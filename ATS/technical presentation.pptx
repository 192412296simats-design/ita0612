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85" r:id="rId4"/>
    <p:sldId id="279" r:id="rId5"/>
    <p:sldId id="258" r:id="rId6"/>
    <p:sldId id="274" r:id="rId7"/>
    <p:sldId id="276" r:id="rId8"/>
    <p:sldId id="283" r:id="rId9"/>
    <p:sldId id="282" r:id="rId10"/>
    <p:sldId id="284" r:id="rId11"/>
    <p:sldId id="271" r:id="rId12"/>
    <p:sldId id="272" r:id="rId13"/>
  </p:sldIdLst>
  <p:sldSz cx="12192000" cy="6858000"/>
  <p:notesSz cx="6858000" cy="9144000"/>
  <p:defaultTextStyle>
    <a:defPPr>
      <a:defRPr kern="0"/>
    </a:def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FAF7F9-0ED8-4983-AA8A-9CF19AC5CADA}" v="30" dt="2026-07-23T15:36:18.9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a.kumar2505@gmail.com" userId="01ce9c058cc72b11" providerId="LiveId" clId="{D1C1F3EA-BC2B-48CC-BC5F-EFED2E7C1006}"/>
    <pc:docChg chg="undo custSel addSld delSld modSld">
      <pc:chgData name="mona.kumar2505@gmail.com" userId="01ce9c058cc72b11" providerId="LiveId" clId="{D1C1F3EA-BC2B-48CC-BC5F-EFED2E7C1006}" dt="2026-07-23T15:37:44.076" v="246" actId="12"/>
      <pc:docMkLst>
        <pc:docMk/>
      </pc:docMkLst>
      <pc:sldChg chg="add del">
        <pc:chgData name="mona.kumar2505@gmail.com" userId="01ce9c058cc72b11" providerId="LiveId" clId="{D1C1F3EA-BC2B-48CC-BC5F-EFED2E7C1006}" dt="2026-07-23T15:18:58.734" v="83" actId="2696"/>
        <pc:sldMkLst>
          <pc:docMk/>
          <pc:sldMk cId="0" sldId="260"/>
        </pc:sldMkLst>
      </pc:sldChg>
      <pc:sldChg chg="modSp mod">
        <pc:chgData name="mona.kumar2505@gmail.com" userId="01ce9c058cc72b11" providerId="LiveId" clId="{D1C1F3EA-BC2B-48CC-BC5F-EFED2E7C1006}" dt="2026-07-23T15:24:01.637" v="105" actId="20577"/>
        <pc:sldMkLst>
          <pc:docMk/>
          <pc:sldMk cId="0" sldId="271"/>
        </pc:sldMkLst>
        <pc:spChg chg="mod">
          <ac:chgData name="mona.kumar2505@gmail.com" userId="01ce9c058cc72b11" providerId="LiveId" clId="{D1C1F3EA-BC2B-48CC-BC5F-EFED2E7C1006}" dt="2026-07-23T15:24:01.637" v="105" actId="20577"/>
          <ac:spMkLst>
            <pc:docMk/>
            <pc:sldMk cId="0" sldId="271"/>
            <ac:spMk id="5" creationId="{B9D23688-2967-4905-28AB-32205A0706A0}"/>
          </ac:spMkLst>
        </pc:spChg>
      </pc:sldChg>
      <pc:sldChg chg="addSp modSp mod">
        <pc:chgData name="mona.kumar2505@gmail.com" userId="01ce9c058cc72b11" providerId="LiveId" clId="{D1C1F3EA-BC2B-48CC-BC5F-EFED2E7C1006}" dt="2026-07-23T15:12:10.602" v="36" actId="1076"/>
        <pc:sldMkLst>
          <pc:docMk/>
          <pc:sldMk cId="0" sldId="276"/>
        </pc:sldMkLst>
        <pc:spChg chg="mod">
          <ac:chgData name="mona.kumar2505@gmail.com" userId="01ce9c058cc72b11" providerId="LiveId" clId="{D1C1F3EA-BC2B-48CC-BC5F-EFED2E7C1006}" dt="2026-07-23T15:06:58.626" v="5" actId="1076"/>
          <ac:spMkLst>
            <pc:docMk/>
            <pc:sldMk cId="0" sldId="276"/>
            <ac:spMk id="3" creationId="{00000000-0000-0000-0000-000000000000}"/>
          </ac:spMkLst>
        </pc:spChg>
        <pc:spChg chg="mod">
          <ac:chgData name="mona.kumar2505@gmail.com" userId="01ce9c058cc72b11" providerId="LiveId" clId="{D1C1F3EA-BC2B-48CC-BC5F-EFED2E7C1006}" dt="2026-07-23T15:11:49.887" v="32" actId="14100"/>
          <ac:spMkLst>
            <pc:docMk/>
            <pc:sldMk cId="0" sldId="276"/>
            <ac:spMk id="8" creationId="{0C4C800F-1AB0-C4BC-2CE9-018BDE52897A}"/>
          </ac:spMkLst>
        </pc:spChg>
        <pc:picChg chg="add mod">
          <ac:chgData name="mona.kumar2505@gmail.com" userId="01ce9c058cc72b11" providerId="LiveId" clId="{D1C1F3EA-BC2B-48CC-BC5F-EFED2E7C1006}" dt="2026-07-23T15:12:10.602" v="36" actId="1076"/>
          <ac:picMkLst>
            <pc:docMk/>
            <pc:sldMk cId="0" sldId="276"/>
            <ac:picMk id="5" creationId="{15276263-4F47-BA63-404C-A845BFEAF524}"/>
          </ac:picMkLst>
        </pc:picChg>
      </pc:sldChg>
      <pc:sldChg chg="add del">
        <pc:chgData name="mona.kumar2505@gmail.com" userId="01ce9c058cc72b11" providerId="LiveId" clId="{D1C1F3EA-BC2B-48CC-BC5F-EFED2E7C1006}" dt="2026-07-23T15:18:49.720" v="82" actId="2696"/>
        <pc:sldMkLst>
          <pc:docMk/>
          <pc:sldMk cId="0" sldId="278"/>
        </pc:sldMkLst>
      </pc:sldChg>
      <pc:sldChg chg="addSp delSp modSp add del mod">
        <pc:chgData name="mona.kumar2505@gmail.com" userId="01ce9c058cc72b11" providerId="LiveId" clId="{D1C1F3EA-BC2B-48CC-BC5F-EFED2E7C1006}" dt="2026-07-23T15:27:08.557" v="124" actId="1076"/>
        <pc:sldMkLst>
          <pc:docMk/>
          <pc:sldMk cId="2162977286" sldId="282"/>
        </pc:sldMkLst>
        <pc:spChg chg="mod">
          <ac:chgData name="mona.kumar2505@gmail.com" userId="01ce9c058cc72b11" providerId="LiveId" clId="{D1C1F3EA-BC2B-48CC-BC5F-EFED2E7C1006}" dt="2026-07-23T15:24:59.063" v="112" actId="1076"/>
          <ac:spMkLst>
            <pc:docMk/>
            <pc:sldMk cId="2162977286" sldId="282"/>
            <ac:spMk id="2" creationId="{C9E51EC9-35BF-9364-E535-04747BB6B4E1}"/>
          </ac:spMkLst>
        </pc:spChg>
        <pc:spChg chg="add mod">
          <ac:chgData name="mona.kumar2505@gmail.com" userId="01ce9c058cc72b11" providerId="LiveId" clId="{D1C1F3EA-BC2B-48CC-BC5F-EFED2E7C1006}" dt="2026-07-23T15:27:04.474" v="123" actId="1076"/>
          <ac:spMkLst>
            <pc:docMk/>
            <pc:sldMk cId="2162977286" sldId="282"/>
            <ac:spMk id="4" creationId="{31B7EB08-48C8-770E-D115-6BA003BDD1E5}"/>
          </ac:spMkLst>
        </pc:spChg>
        <pc:spChg chg="add mod">
          <ac:chgData name="mona.kumar2505@gmail.com" userId="01ce9c058cc72b11" providerId="LiveId" clId="{D1C1F3EA-BC2B-48CC-BC5F-EFED2E7C1006}" dt="2026-07-23T15:27:08.557" v="124" actId="1076"/>
          <ac:spMkLst>
            <pc:docMk/>
            <pc:sldMk cId="2162977286" sldId="282"/>
            <ac:spMk id="7" creationId="{1A784198-25CE-0260-D0FE-737788FD82FA}"/>
          </ac:spMkLst>
        </pc:spChg>
        <pc:picChg chg="del">
          <ac:chgData name="mona.kumar2505@gmail.com" userId="01ce9c058cc72b11" providerId="LiveId" clId="{D1C1F3EA-BC2B-48CC-BC5F-EFED2E7C1006}" dt="2026-07-23T15:18:41.862" v="81" actId="478"/>
          <ac:picMkLst>
            <pc:docMk/>
            <pc:sldMk cId="2162977286" sldId="282"/>
            <ac:picMk id="5" creationId="{9CB05FDD-0181-6DDC-7052-093066EFD4EA}"/>
          </ac:picMkLst>
        </pc:picChg>
      </pc:sldChg>
      <pc:sldChg chg="modSp mod">
        <pc:chgData name="mona.kumar2505@gmail.com" userId="01ce9c058cc72b11" providerId="LiveId" clId="{D1C1F3EA-BC2B-48CC-BC5F-EFED2E7C1006}" dt="2026-07-23T15:16:14.673" v="74" actId="12"/>
        <pc:sldMkLst>
          <pc:docMk/>
          <pc:sldMk cId="945971663" sldId="283"/>
        </pc:sldMkLst>
        <pc:spChg chg="mod">
          <ac:chgData name="mona.kumar2505@gmail.com" userId="01ce9c058cc72b11" providerId="LiveId" clId="{D1C1F3EA-BC2B-48CC-BC5F-EFED2E7C1006}" dt="2026-07-23T15:15:16.641" v="58" actId="1076"/>
          <ac:spMkLst>
            <pc:docMk/>
            <pc:sldMk cId="945971663" sldId="283"/>
            <ac:spMk id="2" creationId="{8FC92FD7-6C2F-8573-DBB5-27B398670CE9}"/>
          </ac:spMkLst>
        </pc:spChg>
        <pc:spChg chg="mod">
          <ac:chgData name="mona.kumar2505@gmail.com" userId="01ce9c058cc72b11" providerId="LiveId" clId="{D1C1F3EA-BC2B-48CC-BC5F-EFED2E7C1006}" dt="2026-07-23T15:16:14.673" v="74" actId="12"/>
          <ac:spMkLst>
            <pc:docMk/>
            <pc:sldMk cId="945971663" sldId="283"/>
            <ac:spMk id="4" creationId="{1B5CF19D-8AE9-B38E-06E8-B2B367791B0D}"/>
          </ac:spMkLst>
        </pc:spChg>
      </pc:sldChg>
      <pc:sldChg chg="addSp modSp mod">
        <pc:chgData name="mona.kumar2505@gmail.com" userId="01ce9c058cc72b11" providerId="LiveId" clId="{D1C1F3EA-BC2B-48CC-BC5F-EFED2E7C1006}" dt="2026-07-23T15:37:44.076" v="246" actId="12"/>
        <pc:sldMkLst>
          <pc:docMk/>
          <pc:sldMk cId="2181929623" sldId="284"/>
        </pc:sldMkLst>
        <pc:spChg chg="mod">
          <ac:chgData name="mona.kumar2505@gmail.com" userId="01ce9c058cc72b11" providerId="LiveId" clId="{D1C1F3EA-BC2B-48CC-BC5F-EFED2E7C1006}" dt="2026-07-23T15:29:22.097" v="132" actId="113"/>
          <ac:spMkLst>
            <pc:docMk/>
            <pc:sldMk cId="2181929623" sldId="284"/>
            <ac:spMk id="2" creationId="{DFA38C3E-43BC-F05F-DF88-7034238E3A9B}"/>
          </ac:spMkLst>
        </pc:spChg>
        <pc:spChg chg="add mod">
          <ac:chgData name="mona.kumar2505@gmail.com" userId="01ce9c058cc72b11" providerId="LiveId" clId="{D1C1F3EA-BC2B-48CC-BC5F-EFED2E7C1006}" dt="2026-07-23T15:37:44.076" v="246" actId="12"/>
          <ac:spMkLst>
            <pc:docMk/>
            <pc:sldMk cId="2181929623" sldId="284"/>
            <ac:spMk id="3" creationId="{E43E8436-1711-2D3A-5C74-0827C1BDBF53}"/>
          </ac:spMkLst>
        </pc:spChg>
        <pc:spChg chg="mod">
          <ac:chgData name="mona.kumar2505@gmail.com" userId="01ce9c058cc72b11" providerId="LiveId" clId="{D1C1F3EA-BC2B-48CC-BC5F-EFED2E7C1006}" dt="2026-07-23T15:37:38.967" v="245" actId="12"/>
          <ac:spMkLst>
            <pc:docMk/>
            <pc:sldMk cId="2181929623" sldId="284"/>
            <ac:spMk id="4" creationId="{D6A93518-0408-8A99-9569-08A82DA7B2B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363DE8-2DC0-4861-80E0-64592D49A90E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8FEB38-3077-4E37-B775-9C9C935DF0E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002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8FEB38-3077-4E37-B775-9C9C935DF0E8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921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C00000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226143-7BD3-4979-9304-B20DCAF354DD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D17735-FAC8-488C-AB60-9155411E362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C00000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226143-7BD3-4979-9304-B20DCAF354DD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D17735-FAC8-488C-AB60-9155411E362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C00000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226143-7BD3-4979-9304-B20DCAF354DD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D17735-FAC8-488C-AB60-9155411E362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C00000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226143-7BD3-4979-9304-B20DCAF354DD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D17735-FAC8-488C-AB60-9155411E362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226143-7BD3-4979-9304-B20DCAF354DD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D17735-FAC8-488C-AB60-9155411E362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2226143-7BD3-4979-9304-B20DCAF354DD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9D17735-FAC8-488C-AB60-9155411E3628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24000" y="352048"/>
            <a:ext cx="9143999" cy="110962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62496" y="2154461"/>
            <a:ext cx="8467007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C00000"/>
                </a:solidFill>
                <a:latin typeface="Tahoma" panose="020B0604030504040204"/>
                <a:cs typeface="Tahoma" panose="020B060403050404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9876" y="3187371"/>
            <a:ext cx="11126470" cy="276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226143-7BD3-4979-9304-B20DCAF354DD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D17735-FAC8-488C-AB60-9155411E3628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883643" y="2878635"/>
            <a:ext cx="7413498" cy="498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  <a:buNone/>
              <a:tabLst>
                <a:tab pos="2362200" algn="l"/>
              </a:tabLst>
            </a:pP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ITA0609</a:t>
            </a:r>
            <a:r>
              <a:rPr lang="en-IN" sz="2000" dirty="0"/>
              <a:t> </a:t>
            </a:r>
            <a:r>
              <a:rPr lang="en-IN" sz="2000" b="1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SimSun" panose="02010600030101010101" pitchFamily="2" charset="-122"/>
              </a:rPr>
              <a:t> – </a:t>
            </a: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  <a:endParaRPr lang="en-US" altLang="en-IN" sz="2000" b="1" kern="1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6976" y="3429000"/>
            <a:ext cx="9985248" cy="1236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  <a:tabLst>
                <a:tab pos="1729740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CO1-AT3 -TECHNICAL PRESENTATION</a:t>
            </a:r>
          </a:p>
          <a:p>
            <a:pPr algn="ctr">
              <a:lnSpc>
                <a:spcPct val="150000"/>
              </a:lnSpc>
              <a:spcAft>
                <a:spcPts val="800"/>
              </a:spcAft>
              <a:buNone/>
              <a:tabLst>
                <a:tab pos="1729740" algn="l"/>
              </a:tabLst>
            </a:pPr>
            <a:endParaRPr lang="en-US" altLang="en-US" sz="24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47460" y="2155360"/>
            <a:ext cx="8026146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85720">
              <a:lnSpc>
                <a:spcPct val="100000"/>
              </a:lnSpc>
              <a:spcBef>
                <a:spcPts val="650"/>
              </a:spcBef>
            </a:pPr>
            <a:r>
              <a:rPr lang="en-US" sz="1800" b="1" spc="-20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SIMATS</a:t>
            </a:r>
            <a:r>
              <a:rPr lang="en-US" sz="1800" b="1" spc="-55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1800" b="1" spc="-10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ENGINEERING,</a:t>
            </a:r>
            <a:endParaRPr lang="en-US" sz="1800" dirty="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lang="en-US" sz="1800" b="1" spc="-40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SAVEETHA</a:t>
            </a:r>
            <a:r>
              <a:rPr lang="en-US" sz="1800" b="1" spc="-95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1800" b="1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INSTITUTE OF</a:t>
            </a:r>
            <a:r>
              <a:rPr lang="en-US" sz="1800" b="1" spc="-60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1800" b="1" spc="-10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MEDICAL</a:t>
            </a:r>
            <a:r>
              <a:rPr lang="en-US" sz="1800" b="1" spc="-195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1800" b="1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AND</a:t>
            </a:r>
            <a:r>
              <a:rPr lang="en-US" sz="1800" b="1" spc="-30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1800" b="1" spc="-10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TECHNICAL</a:t>
            </a:r>
            <a:r>
              <a:rPr lang="en-US" sz="1800" b="1" spc="-100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1800" b="1" spc="-10" dirty="0">
                <a:solidFill>
                  <a:srgbClr val="002060"/>
                </a:solidFill>
                <a:latin typeface="Times New Roman" panose="02020603050405020304"/>
                <a:cs typeface="Times New Roman" panose="02020603050405020304"/>
              </a:rPr>
              <a:t>SCIENCES</a:t>
            </a:r>
            <a:endParaRPr lang="en-US" sz="18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3459" y="5021060"/>
            <a:ext cx="304736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69900" algn="l">
              <a:lnSpc>
                <a:spcPct val="100000"/>
              </a:lnSpc>
              <a:spcBef>
                <a:spcPts val="720"/>
              </a:spcBef>
            </a:pPr>
            <a:r>
              <a:rPr lang="en-US" sz="2000" b="1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Presented</a:t>
            </a:r>
            <a:r>
              <a:rPr lang="en-US" sz="2000" b="1" spc="-10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000" b="1" spc="-25" dirty="0">
                <a:solidFill>
                  <a:srgbClr val="C00000"/>
                </a:solidFill>
                <a:latin typeface="Times New Roman" panose="02020603050405020304"/>
                <a:cs typeface="Times New Roman" panose="02020603050405020304"/>
              </a:rPr>
              <a:t>by</a:t>
            </a:r>
            <a:endParaRPr lang="en-US" sz="2000" dirty="0">
              <a:latin typeface="Times New Roman" panose="02020603050405020304"/>
              <a:cs typeface="Times New Roman" panose="02020603050405020304"/>
            </a:endParaRPr>
          </a:p>
          <a:p>
            <a:pPr rtl="0"/>
            <a:endParaRPr lang="en-I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IN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Monisha .K-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192412296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675467" y="1828800"/>
            <a:ext cx="86190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MACHINE LEARNING</a:t>
            </a:r>
            <a:endParaRPr lang="en-IN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9732" y="2565400"/>
            <a:ext cx="7679267" cy="419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Machine Learning?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is a branch of Artificial Intelligence.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enables computers to learn from data and experience.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identifies patterns and improves its performance.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make predictions or decisions without being explicitly programmed for every situation. </a:t>
            </a: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Emails → Learning → Spam / Not Spam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CED35-3F91-8B1C-E06A-BDBEA7C90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9065" y="1521787"/>
            <a:ext cx="6417733" cy="369332"/>
          </a:xfrm>
        </p:spPr>
        <p:txBody>
          <a:bodyPr/>
          <a:lstStyle/>
          <a:p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LEARNING PROBLEMS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3D9EC2-A227-DE7F-7DD4-44F2AFA90CDF}"/>
              </a:ext>
            </a:extLst>
          </p:cNvPr>
          <p:cNvSpPr txBox="1"/>
          <p:nvPr/>
        </p:nvSpPr>
        <p:spPr>
          <a:xfrm>
            <a:off x="660399" y="1891119"/>
            <a:ext cx="12175067" cy="5259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Main Types of Machine Learning</a:t>
            </a:r>
          </a:p>
          <a:p>
            <a:pPr>
              <a:lnSpc>
                <a:spcPct val="150000"/>
              </a:lnSpc>
            </a:pPr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1. Supervised Learning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Learns from labelled data.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The correct output is already known. </a:t>
            </a:r>
          </a:p>
          <a:p>
            <a:pPr>
              <a:lnSpc>
                <a:spcPct val="150000"/>
              </a:lnSpc>
            </a:pP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Example: Disease prediction and spam detection. </a:t>
            </a:r>
          </a:p>
          <a:p>
            <a:pPr>
              <a:lnSpc>
                <a:spcPct val="150000"/>
              </a:lnSpc>
            </a:pPr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2. Unsupervised Learning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Learns from unlabelled data.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Finds hidden patterns or groups. </a:t>
            </a:r>
          </a:p>
          <a:p>
            <a:pPr>
              <a:lnSpc>
                <a:spcPct val="150000"/>
              </a:lnSpc>
            </a:pP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Example: Customer grouping. </a:t>
            </a:r>
          </a:p>
          <a:p>
            <a:pPr>
              <a:lnSpc>
                <a:spcPct val="150000"/>
              </a:lnSpc>
            </a:pPr>
            <a:r>
              <a:rPr lang="en-IN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3. Reinforcement Learning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Learns through trial and error.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Uses rewards for correct actions and penalties for incorrect actions. </a:t>
            </a:r>
          </a:p>
          <a:p>
            <a:pPr>
              <a:lnSpc>
                <a:spcPct val="150000"/>
              </a:lnSpc>
            </a:pPr>
            <a:r>
              <a:rPr lang="en-IN" sz="1600">
                <a:latin typeface="Times New Roman" panose="02020603050405020304" pitchFamily="18" charset="0"/>
                <a:cs typeface="Times New Roman" panose="02020603050405020304" pitchFamily="18" charset="0"/>
              </a:rPr>
              <a:t>Example: Robot learning and game-playing AI.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691CAF-E82F-6579-5795-D34E3550E3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3710" y="2412584"/>
            <a:ext cx="4304584" cy="258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913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31066" y="1652271"/>
            <a:ext cx="75184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PERSPECTIVES OF MACHINE LEARNING</a:t>
            </a:r>
          </a:p>
          <a:p>
            <a:endParaRPr lang="en-US" altLang="en-IN" sz="28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6654" y="2639907"/>
            <a:ext cx="10698692" cy="3741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1. Symbolic Approach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Uses rules, logic and symbols.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Knowledge is represented in an understandable form.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IF temperature is high → THEN turn ON the fan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2. Statistical Approach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Uses data, probability and mathematical models.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Finds patterns from large amounts of data.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Example: Disease prediction using patient data.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en-US" sz="16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968243" y="1588366"/>
            <a:ext cx="70054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ISSUES IN MACHINE LEARNING</a:t>
            </a:r>
            <a:endParaRPr lang="en-IN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7208520" y="17411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1230C6-CF32-CE36-190C-A66C65149B71}"/>
              </a:ext>
            </a:extLst>
          </p:cNvPr>
          <p:cNvSpPr txBox="1"/>
          <p:nvPr/>
        </p:nvSpPr>
        <p:spPr>
          <a:xfrm>
            <a:off x="508760" y="2109470"/>
            <a:ext cx="12280053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1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Data Quality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Incorrect, incomplete or noisy data affects learning.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data can produce incorrect predictions.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Overfitting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memorizes training data.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performs well on training data but poorly on new data.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Computational Complexity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models and large datasets require more: 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time 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</a:t>
            </a:r>
          </a:p>
          <a:p>
            <a: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power</a:t>
            </a:r>
          </a:p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59416" y="1816100"/>
            <a:ext cx="95110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LEARNING</a:t>
            </a:r>
            <a:endParaRPr lang="en-IN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3830531" y="18935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B84AA4-DC9F-2509-419F-06D4C2A2EAA6}"/>
              </a:ext>
            </a:extLst>
          </p:cNvPr>
          <p:cNvSpPr txBox="1"/>
          <p:nvPr/>
        </p:nvSpPr>
        <p:spPr>
          <a:xfrm>
            <a:off x="586212" y="2482579"/>
            <a:ext cx="7948188" cy="388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Decision Tree?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Decision Tree is a tree-like machine learning model.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for classification and decision-making.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divides data using a series of questions or decisions.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Components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Node: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First decision or question.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Branches: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Possible outcomes.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Leaf Node: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Final decision or prediction.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E272DF-2966-463D-BFD3-4A896A3EA9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4974" y="2822603"/>
            <a:ext cx="4976826" cy="27484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88863" y="1647805"/>
            <a:ext cx="92142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OF DECISION TREE LEARNING</a:t>
            </a:r>
            <a:endParaRPr lang="en-IN" sz="24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7208520" y="17411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4C800F-1AB0-C4BC-2CE9-018BDE52897A}"/>
              </a:ext>
            </a:extLst>
          </p:cNvPr>
          <p:cNvSpPr txBox="1"/>
          <p:nvPr/>
        </p:nvSpPr>
        <p:spPr>
          <a:xfrm>
            <a:off x="533400" y="2155256"/>
            <a:ext cx="6519334" cy="4301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with the training data.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best feature for splitting.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 the data into branches.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 splitting if required.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 when a final decision is reached</a:t>
            </a:r>
            <a:r>
              <a:rPr lang="en-IN" dirty="0"/>
              <a:t>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Point: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best feature is selected using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Entropy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Gain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IN" dirty="0"/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276263-4F47-BA63-404C-A845BFEAF5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7312" y="2505025"/>
            <a:ext cx="5474688" cy="36018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92FD7-6C2F-8573-DBB5-27B398670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9296" y="1688794"/>
            <a:ext cx="8467007" cy="369332"/>
          </a:xfrm>
        </p:spPr>
        <p:txBody>
          <a:bodyPr/>
          <a:lstStyle/>
          <a:p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ENTROPY AND INFORMATION GAIN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B5CF19D-8AE9-B38E-06E8-B2B367791B0D}"/>
                  </a:ext>
                </a:extLst>
              </p:cNvPr>
              <p:cNvSpPr txBox="1"/>
              <p:nvPr/>
            </p:nvSpPr>
            <p:spPr>
              <a:xfrm>
                <a:off x="296334" y="2268454"/>
                <a:ext cx="12031133" cy="41975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Entropy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Entropy measures the uncertainty or impurity in a dataset. 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 entropy means more uncertainty. 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Low entropy means less uncertainty.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Formula:    </a:t>
                </a:r>
                <a14:m>
                  <m:oMath xmlns:m="http://schemas.openxmlformats.org/officeDocument/2006/math">
                    <m:r>
                      <a:rPr lang="en-IN" i="1"/>
                      <m:t>𝐸𝑛𝑡𝑟𝑜𝑝𝑦</m:t>
                    </m:r>
                    <m:d>
                      <m:dPr>
                        <m:ctrlPr>
                          <a:rPr lang="en-IN" i="1"/>
                        </m:ctrlPr>
                      </m:dPr>
                      <m:e>
                        <m:r>
                          <a:rPr lang="en-IN" i="1"/>
                          <m:t>𝑆</m:t>
                        </m:r>
                      </m:e>
                    </m:d>
                    <m:r>
                      <a:rPr lang="en-IN"/>
                      <m:t>=−</m:t>
                    </m:r>
                    <m:nary>
                      <m:naryPr>
                        <m:chr m:val="∑"/>
                        <m:grow m:val="on"/>
                        <m:subHide m:val="on"/>
                        <m:supHide m:val="on"/>
                        <m:ctrlPr>
                          <a:rPr lang="en-IN" i="1"/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IN" i="1"/>
                            </m:ctrlPr>
                          </m:sSubPr>
                          <m:e>
                            <m:r>
                              <a:rPr lang="en-IN" i="1"/>
                              <m:t>𝑝</m:t>
                            </m:r>
                          </m:e>
                          <m:sub>
                            <m:r>
                              <a:rPr lang="en-IN" i="1"/>
                              <m:t>𝑖</m:t>
                            </m:r>
                          </m:sub>
                        </m:sSub>
                      </m:e>
                    </m:nary>
                    <m:sSub>
                      <m:sSubPr>
                        <m:ctrlPr>
                          <a:rPr lang="en-IN" i="1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/>
                          <m:t>log</m:t>
                        </m:r>
                      </m:e>
                      <m:sub>
                        <m:r>
                          <a:rPr lang="en-IN"/>
                          <m:t>2</m:t>
                        </m:r>
                      </m:sub>
                    </m:sSub>
                    <m:d>
                      <m:dPr>
                        <m:ctrlPr>
                          <a:rPr lang="en-IN" i="1"/>
                        </m:ctrlPr>
                      </m:dPr>
                      <m:e>
                        <m:sSub>
                          <m:sSubPr>
                            <m:ctrlPr>
                              <a:rPr lang="en-IN" i="1"/>
                            </m:ctrlPr>
                          </m:sSubPr>
                          <m:e>
                            <m:r>
                              <a:rPr lang="en-IN" i="1"/>
                              <m:t>𝑝</m:t>
                            </m:r>
                          </m:e>
                          <m:sub>
                            <m:r>
                              <a:rPr lang="en-IN" i="1"/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IN" dirty="0"/>
              </a:p>
              <a:p>
                <a:pPr>
                  <a:lnSpc>
                    <a:spcPct val="150000"/>
                  </a:lnSpc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Information Gain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Information Gain measures the reduction in uncertainty after splitting data. 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feature with the highest Information Gain is selected for the best split.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I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Formula:  </a:t>
                </a:r>
                <a14:m>
                  <m:oMath xmlns:m="http://schemas.openxmlformats.org/officeDocument/2006/math">
                    <m:r>
                      <a:rPr lang="en-IN" i="1"/>
                      <m:t>𝐼𝑛𝑓𝑜𝑟𝑚𝑎𝑡𝑖𝑜𝑛</m:t>
                    </m:r>
                    <m:r>
                      <m:rPr>
                        <m:nor/>
                      </m:rPr>
                      <a:rPr lang="en-IN"/>
                      <m:t> </m:t>
                    </m:r>
                    <m:r>
                      <a:rPr lang="en-IN" i="1"/>
                      <m:t>𝐺𝑎𝑖𝑛</m:t>
                    </m:r>
                    <m:r>
                      <a:rPr lang="en-IN"/>
                      <m:t>=</m:t>
                    </m:r>
                    <m:r>
                      <a:rPr lang="en-IN" i="1"/>
                      <m:t>𝐸𝑛𝑡𝑟𝑜𝑝𝑦</m:t>
                    </m:r>
                    <m:d>
                      <m:dPr>
                        <m:ctrlPr>
                          <a:rPr lang="en-IN" i="1"/>
                        </m:ctrlPr>
                      </m:dPr>
                      <m:e>
                        <m:r>
                          <a:rPr lang="en-IN" i="1"/>
                          <m:t>𝑝𝑎𝑟𝑒𝑛𝑡</m:t>
                        </m:r>
                      </m:e>
                    </m:d>
                    <m:r>
                      <a:rPr lang="en-IN"/>
                      <m:t>−</m:t>
                    </m:r>
                    <m:r>
                      <a:rPr lang="en-IN" i="1"/>
                      <m:t>𝑊𝑒𝑖𝑔h𝑡𝑒𝑑</m:t>
                    </m:r>
                    <m:r>
                      <m:rPr>
                        <m:nor/>
                      </m:rPr>
                      <a:rPr lang="en-IN"/>
                      <m:t> </m:t>
                    </m:r>
                    <m:r>
                      <a:rPr lang="en-IN" i="1"/>
                      <m:t>𝐸𝑛𝑡𝑟𝑜𝑝𝑦</m:t>
                    </m:r>
                    <m:d>
                      <m:dPr>
                        <m:ctrlPr>
                          <a:rPr lang="en-IN" i="1"/>
                        </m:ctrlPr>
                      </m:dPr>
                      <m:e>
                        <m:r>
                          <a:rPr lang="en-IN" i="1"/>
                          <m:t>𝑐h𝑖𝑙𝑑𝑟𝑒𝑛</m:t>
                        </m:r>
                      </m:e>
                    </m:d>
                  </m:oMath>
                </a14:m>
                <a:endParaRPr lang="en-IN" b="0" dirty="0"/>
              </a:p>
              <a:p>
                <a:pPr>
                  <a:lnSpc>
                    <a:spcPct val="150000"/>
                  </a:lnSpc>
                </a:pPr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B5CF19D-8AE9-B38E-06E8-B2B367791B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334" y="2268454"/>
                <a:ext cx="12031133" cy="4197559"/>
              </a:xfrm>
              <a:prstGeom prst="rect">
                <a:avLst/>
              </a:prstGeom>
              <a:blipFill>
                <a:blip r:embed="rId2"/>
                <a:stretch>
                  <a:fillRect l="-4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5971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51EC9-35BF-9364-E535-04747BB6B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0727" y="1746666"/>
            <a:ext cx="6672074" cy="800219"/>
          </a:xfrm>
        </p:spPr>
        <p:txBody>
          <a:bodyPr/>
          <a:lstStyle/>
          <a:p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 PRUNING</a:t>
            </a:r>
            <a:b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B7EB08-48C8-770E-D115-6BA003BDD1E5}"/>
              </a:ext>
            </a:extLst>
          </p:cNvPr>
          <p:cNvSpPr txBox="1"/>
          <p:nvPr/>
        </p:nvSpPr>
        <p:spPr>
          <a:xfrm>
            <a:off x="736600" y="2013002"/>
            <a:ext cx="6096000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Pruning?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Pruning is the process of removing unnecessary branches from a decision tree.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to reduce overfitting.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makes the tree simpler and easier to understand.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784198-25CE-0260-D0FE-737788FD82FA}"/>
              </a:ext>
            </a:extLst>
          </p:cNvPr>
          <p:cNvSpPr txBox="1"/>
          <p:nvPr/>
        </p:nvSpPr>
        <p:spPr>
          <a:xfrm>
            <a:off x="736600" y="4265136"/>
            <a:ext cx="6096000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Pruning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overfitting.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performance on new data.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model complexity.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the tree easier to interpret</a:t>
            </a:r>
          </a:p>
        </p:txBody>
      </p:sp>
    </p:spTree>
    <p:extLst>
      <p:ext uri="{BB962C8B-B14F-4D97-AF65-F5344CB8AC3E}">
        <p14:creationId xmlns:p14="http://schemas.microsoft.com/office/powerpoint/2010/main" val="2162977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38C3E-43BC-F05F-DF88-7034238E3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9333" y="1916207"/>
            <a:ext cx="9482667" cy="369332"/>
          </a:xfrm>
        </p:spPr>
        <p:txBody>
          <a:bodyPr/>
          <a:lstStyle/>
          <a:p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ADVANTAGES, LIMITATIONS AND APPLICATIONS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A93518-0408-8A99-9569-08A82DA7B2B1}"/>
              </a:ext>
            </a:extLst>
          </p:cNvPr>
          <p:cNvSpPr txBox="1"/>
          <p:nvPr/>
        </p:nvSpPr>
        <p:spPr>
          <a:xfrm>
            <a:off x="67734" y="2285539"/>
            <a:ext cx="13284199" cy="378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96000"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681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understand and interpret. </a:t>
            </a:r>
          </a:p>
          <a:p>
            <a:pPr marL="681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visualize. </a:t>
            </a:r>
          </a:p>
          <a:p>
            <a:pPr marL="681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classification and decision-making. </a:t>
            </a:r>
          </a:p>
          <a:p>
            <a:pPr marL="681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less data preparation. </a:t>
            </a:r>
          </a:p>
          <a:p>
            <a:pPr marL="396000" algn="just">
              <a:lnSpc>
                <a:spcPct val="15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681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suffer from overfitting. </a:t>
            </a:r>
          </a:p>
          <a:p>
            <a:pPr marL="681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trees can become complex. </a:t>
            </a:r>
          </a:p>
          <a:p>
            <a:pPr marL="681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changes in data may change the tree structure.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3E8436-1711-2D3A-5C74-0827C1BDBF53}"/>
              </a:ext>
            </a:extLst>
          </p:cNvPr>
          <p:cNvSpPr txBox="1"/>
          <p:nvPr/>
        </p:nvSpPr>
        <p:spPr>
          <a:xfrm>
            <a:off x="5698068" y="2667000"/>
            <a:ext cx="4191000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96000" algn="just"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marL="681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Disease prediction </a:t>
            </a:r>
          </a:p>
          <a:p>
            <a:pPr marL="681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Loan approval </a:t>
            </a:r>
          </a:p>
          <a:p>
            <a:pPr marL="681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Spam detection </a:t>
            </a:r>
          </a:p>
          <a:p>
            <a:pPr marL="681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Business: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classification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1929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739854" y="1899828"/>
            <a:ext cx="26860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D23688-2967-4905-28AB-32205A0706A0}"/>
              </a:ext>
            </a:extLst>
          </p:cNvPr>
          <p:cNvSpPr txBox="1"/>
          <p:nvPr/>
        </p:nvSpPr>
        <p:spPr>
          <a:xfrm>
            <a:off x="1473201" y="2684098"/>
            <a:ext cx="9584478" cy="336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dirty="0"/>
              <a:t>Machine Learning enables computers to learn from data.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dirty="0"/>
              <a:t>Supervised, Unsupervised and Reinforcement Learning solve different learning problems.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dirty="0"/>
              <a:t>Symbolic approaches use rules and logic.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dirty="0"/>
              <a:t>Statistical approaches use data and probability.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dirty="0"/>
              <a:t> Data quality, overfitting and computational complexity affect ML performance.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dirty="0"/>
              <a:t> Decision Trees represent knowledge using roots, branches and leaves.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IN" dirty="0"/>
              <a:t> Entropy and Information Gain help select the best feature. Pruning reduces unnecessary complexity and overfitting.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370" y="1714500"/>
            <a:ext cx="6858635" cy="45472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153</TotalTime>
  <Words>686</Words>
  <Application>Microsoft Office PowerPoint</Application>
  <PresentationFormat>Widescreen</PresentationFormat>
  <Paragraphs>113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Arial MT</vt:lpstr>
      <vt:lpstr>Tahoma</vt:lpstr>
      <vt:lpstr>Times New Roman</vt:lpstr>
      <vt:lpstr>Theme1</vt:lpstr>
      <vt:lpstr>PowerPoint Presentation</vt:lpstr>
      <vt:lpstr>PowerPoint Presentation</vt:lpstr>
      <vt:lpstr>TYPES OF LEARNING PROBLEMS</vt:lpstr>
      <vt:lpstr>PowerPoint Presentation</vt:lpstr>
      <vt:lpstr>PowerPoint Presentation</vt:lpstr>
      <vt:lpstr>PowerPoint Presentation</vt:lpstr>
      <vt:lpstr>PowerPoint Presentation</vt:lpstr>
      <vt:lpstr>ENTROPY AND INFORMATION GAIN</vt:lpstr>
      <vt:lpstr>TREE PRUNING </vt:lpstr>
      <vt:lpstr>ADVANTAGES, LIMITATIONS AND APPLICATIONS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Balaj PR</dc:creator>
  <cp:lastModifiedBy>mona.kumar2505@gmail.com</cp:lastModifiedBy>
  <cp:revision>39</cp:revision>
  <dcterms:created xsi:type="dcterms:W3CDTF">2026-02-11T11:13:00Z</dcterms:created>
  <dcterms:modified xsi:type="dcterms:W3CDTF">2026-07-23T15:38:07Z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09CE472320684BC7BBE969DD654EF4DF_13</vt:lpwstr>
  </property>
  <property fmtid="{D5CDD505-2E9C-101B-9397-08002B2CF9AE}" pid="3" name="KSOProductBuildVer">
    <vt:lpwstr>1033-12.1.0.25242</vt:lpwstr>
  </property>
</Properties>
</file>